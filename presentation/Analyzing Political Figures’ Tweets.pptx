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3" roundtripDataSignature="AMtx7mhYOnCp1EJIihIiOv+wARIA/mT+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15CB634-1F64-44A3-A1E4-034386DB95C6}">
  <a:tblStyle styleId="{915CB634-1F64-44A3-A1E4-034386DB95C6}" styleName="Table_0">
    <a:wholeTbl>
      <a:tcTxStyle b="off" i="off">
        <a:font>
          <a:latin typeface="Palatino Linotype"/>
          <a:ea typeface="Palatino Linotype"/>
          <a:cs typeface="Palatino Linotype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BF2"/>
          </a:solidFill>
        </a:fill>
      </a:tcStyle>
    </a:wholeTbl>
    <a:band1H>
      <a:tcTxStyle/>
      <a:tcStyle>
        <a:fill>
          <a:solidFill>
            <a:srgbClr val="D1D5E5"/>
          </a:solidFill>
        </a:fill>
      </a:tcStyle>
    </a:band1H>
    <a:band2H>
      <a:tcTxStyle/>
    </a:band2H>
    <a:band1V>
      <a:tcTxStyle/>
      <a:tcStyle>
        <a:fill>
          <a:solidFill>
            <a:srgbClr val="D1D5E5"/>
          </a:solidFill>
        </a:fill>
      </a:tcStyle>
    </a:band1V>
    <a:band2V>
      <a:tcTxStyle/>
    </a:band2V>
    <a:lastCol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Palatino Linotype"/>
          <a:ea typeface="Palatino Linotype"/>
          <a:cs typeface="Palatino Linotype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1abd8c2b1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51abd8c2b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51abd8c2b1_0_30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51abd8c2b1_0_30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51abd8c2b1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1abd8c2b1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51abd8c2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51abd8c2b1_0_1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51abd8c2b1_0_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51abd8c2b1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51abd8c2b1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51abd8c2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51abd8c2b1_0_10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51abd8c2b1_0_10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51abd8c2b1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1abd8c2b1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51abd8c2b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51abd8c2b1_0_21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51abd8c2b1_0_2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51abd8c2b1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ad531436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ad5314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5ad531436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ad5314365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ad53143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5ad5314365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609601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Palatino Linotyp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49530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722313" y="1371600"/>
            <a:ext cx="7772400" cy="250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  <a:defRPr sz="4800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722313" y="4068763"/>
            <a:ext cx="7772400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6" name="Google Shape;36;p16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7" name="Google Shape;37;p16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o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365760" y="1600200"/>
            <a:ext cx="4041648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457200" y="1600200"/>
            <a:ext cx="40401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b="0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4648200" y="1600200"/>
            <a:ext cx="4041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b="0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8"/>
          <p:cNvSpPr txBox="1"/>
          <p:nvPr>
            <p:ph idx="3" type="body"/>
          </p:nvPr>
        </p:nvSpPr>
        <p:spPr>
          <a:xfrm>
            <a:off x="457200" y="2212848"/>
            <a:ext cx="4041648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4" type="body"/>
          </p:nvPr>
        </p:nvSpPr>
        <p:spPr>
          <a:xfrm>
            <a:off x="4672584" y="2212848"/>
            <a:ext cx="4041648" cy="39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5907087" y="266700"/>
            <a:ext cx="3008313" cy="20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latino Linotype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719137" y="273050"/>
            <a:ext cx="4995863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Char char="o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o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21"/>
          <p:cNvSpPr txBox="1"/>
          <p:nvPr>
            <p:ph idx="2" type="body"/>
          </p:nvPr>
        </p:nvSpPr>
        <p:spPr>
          <a:xfrm>
            <a:off x="5907087" y="2438400"/>
            <a:ext cx="3008313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1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/>
          <p:nvPr>
            <p:ph type="title"/>
          </p:nvPr>
        </p:nvSpPr>
        <p:spPr>
          <a:xfrm>
            <a:off x="1679576" y="228600"/>
            <a:ext cx="5711824" cy="895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latino Linotype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/>
          <p:nvPr>
            <p:ph idx="2" type="pic"/>
          </p:nvPr>
        </p:nvSpPr>
        <p:spPr>
          <a:xfrm>
            <a:off x="1508126" y="1143000"/>
            <a:ext cx="6054724" cy="4541044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ctr" dir="5400000" dist="50800">
              <a:srgbClr val="000000">
                <a:alpha val="24705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Courier New"/>
              <a:buNone/>
              <a:defRPr b="0" i="0" sz="28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ourier New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1679576" y="5810250"/>
            <a:ext cx="571182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7F7F7F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2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algn="ctr">
              <a:lnSpc>
                <a:spcPct val="322222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76000">
              <a:srgbClr val="F3F3F3"/>
            </a:gs>
            <a:gs pos="92000">
              <a:srgbClr val="D8D8D8"/>
            </a:gs>
            <a:gs pos="100000">
              <a:srgbClr val="D8D8D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  <a:defRPr b="0" i="0" sz="5400" u="none" cap="none" strike="noStrike">
                <a:solidFill>
                  <a:schemeClr val="dk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2400"/>
            <a:ext cx="8077200" cy="321468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>
            <p:ph type="ctrTitle"/>
          </p:nvPr>
        </p:nvSpPr>
        <p:spPr>
          <a:xfrm>
            <a:off x="733425" y="3367088"/>
            <a:ext cx="8077200" cy="1774825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6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alatino Linotype"/>
              <a:buNone/>
            </a:pPr>
            <a:r>
              <a:rPr lang="en-US" sz="4800"/>
              <a:t>Analyzing Political Figures’ Tweets</a:t>
            </a:r>
            <a:endParaRPr sz="4800"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762000" y="5181600"/>
            <a:ext cx="8077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79"/>
              <a:buNone/>
            </a:pPr>
            <a:r>
              <a:rPr lang="en-US" sz="1679"/>
              <a:t>Group Members: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79"/>
              <a:buNone/>
            </a:pPr>
            <a:r>
              <a:rPr lang="en-US" sz="1679"/>
              <a:t>Amr Elfiky</a:t>
            </a:r>
            <a:endParaRPr sz="1679"/>
          </a:p>
          <a:p>
            <a:pPr indent="0" lvl="0" marL="0" rtl="0" algn="ctr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79"/>
              <a:buNone/>
            </a:pPr>
            <a:r>
              <a:rPr lang="en-US" sz="1679"/>
              <a:t>Tianyi Lu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79"/>
              <a:buNone/>
            </a:pPr>
            <a:r>
              <a:rPr lang="en-US" sz="1679"/>
              <a:t>Yuesong Shi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79"/>
              <a:buNone/>
            </a:pPr>
            <a:r>
              <a:rPr lang="en-US" sz="1679"/>
              <a:t>Edward Zamora</a:t>
            </a:r>
            <a:endParaRPr sz="167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506525" y="13815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Motivations and Objectives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Twitter has become a major platform for political figures.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More and more prominent figures are using it to attack policies, express ideas, and communicate with their constituents.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“Viral” phenomenon increases exposure.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Do political figures have  a certain way of speaking given their political affiliation?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Can the sentiment of a user determine their political affiliation?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Approach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371276" y="1066800"/>
            <a:ext cx="8229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Collect Tweets from political figures and perform sentiment analysis.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Sentiment analysis will categorize the Tweet as positive, negative, or neutral.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</a:pPr>
            <a:r>
              <a:rPr lang="en-US"/>
              <a:t>More specifically, we will look for keywords in each tweet in order to extract sentiment.</a:t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16622" l="0" r="0" t="0"/>
          <a:stretch/>
        </p:blipFill>
        <p:spPr>
          <a:xfrm>
            <a:off x="760590" y="4866359"/>
            <a:ext cx="4419600" cy="990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590" y="3613754"/>
            <a:ext cx="4419600" cy="110320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9" name="Google Shape;119;p3"/>
          <p:cNvCxnSpPr>
            <a:stCxn id="118" idx="3"/>
          </p:cNvCxnSpPr>
          <p:nvPr/>
        </p:nvCxnSpPr>
        <p:spPr>
          <a:xfrm>
            <a:off x="5180190" y="4165358"/>
            <a:ext cx="915900" cy="0"/>
          </a:xfrm>
          <a:prstGeom prst="straightConnector1">
            <a:avLst/>
          </a:prstGeom>
          <a:noFill/>
          <a:ln cap="flat" cmpd="sng" w="9525">
            <a:solidFill>
              <a:srgbClr val="5A72B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0" name="Google Shape;120;p3"/>
          <p:cNvCxnSpPr/>
          <p:nvPr/>
        </p:nvCxnSpPr>
        <p:spPr>
          <a:xfrm>
            <a:off x="5180190" y="5361659"/>
            <a:ext cx="915810" cy="0"/>
          </a:xfrm>
          <a:prstGeom prst="straightConnector1">
            <a:avLst/>
          </a:prstGeom>
          <a:noFill/>
          <a:ln cap="flat" cmpd="sng" w="9525">
            <a:solidFill>
              <a:srgbClr val="5A72B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1" name="Google Shape;121;p3"/>
          <p:cNvSpPr txBox="1"/>
          <p:nvPr/>
        </p:nvSpPr>
        <p:spPr>
          <a:xfrm>
            <a:off x="6118617" y="3956189"/>
            <a:ext cx="47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7.0</a:t>
            </a:r>
            <a:endParaRPr sz="1800">
              <a:solidFill>
                <a:srgbClr val="00B05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087997" y="5176993"/>
            <a:ext cx="60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- 4.0</a:t>
            </a:r>
            <a:endParaRPr sz="1800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717598" y="3991458"/>
            <a:ext cx="533400" cy="725504"/>
          </a:xfrm>
          <a:prstGeom prst="up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20000">
                <a:schemeClr val="lt1"/>
              </a:gs>
              <a:gs pos="98000">
                <a:srgbClr val="00B050"/>
              </a:gs>
              <a:gs pos="100000">
                <a:srgbClr val="00B050"/>
              </a:gs>
            </a:gsLst>
            <a:lin ang="15600000" scaled="0"/>
          </a:gradFill>
          <a:ln cap="flat" cmpd="sng" w="28575">
            <a:solidFill>
              <a:srgbClr val="4656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4" name="Google Shape;124;p3"/>
          <p:cNvSpPr/>
          <p:nvPr/>
        </p:nvSpPr>
        <p:spPr>
          <a:xfrm rot="10800000">
            <a:off x="7717598" y="4849510"/>
            <a:ext cx="533400" cy="725504"/>
          </a:xfrm>
          <a:prstGeom prst="up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20000">
                <a:schemeClr val="lt1"/>
              </a:gs>
              <a:gs pos="98000">
                <a:srgbClr val="FF0000"/>
              </a:gs>
              <a:gs pos="100000">
                <a:srgbClr val="FF0000"/>
              </a:gs>
            </a:gsLst>
            <a:lin ang="15600000" scaled="0"/>
          </a:gradFill>
          <a:ln cap="flat" cmpd="sng" w="28575">
            <a:solidFill>
              <a:srgbClr val="4656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490445" y="3622126"/>
            <a:ext cx="9877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Positive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490444" y="5541125"/>
            <a:ext cx="1110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Negative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60590" y="6104351"/>
            <a:ext cx="2209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[1] https://twitter.com</a:t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457200" y="10668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Data Collection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Data was collected using the Tweepy library, which interfaces with the Twitter API.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Support for the following was added to our class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•"/>
            </a:pPr>
            <a:r>
              <a:rPr lang="en-US" sz="1480"/>
              <a:t>Single query of user (variable number of Tweets)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•"/>
            </a:pPr>
            <a:r>
              <a:rPr lang="en-US" sz="1480"/>
              <a:t>Query of users specified in a csv file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•"/>
            </a:pPr>
            <a:r>
              <a:rPr lang="en-US" sz="1480"/>
              <a:t>Store data to a file, load data from a file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Text Preprocessing (‘data scrapping’)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Tweets are “Dirty” and contain unnecessary data</a:t>
            </a:r>
            <a:endParaRPr sz="1480"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SzPts val="1480"/>
              <a:buChar char="o"/>
            </a:pPr>
            <a:r>
              <a:rPr lang="en-US" sz="1480"/>
              <a:t>NLTK library for lemmatizing and cleaning</a:t>
            </a:r>
            <a:endParaRPr sz="1480"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Punctuation, nouns, hashtags, links, and @mentions are neutral and do not contribute to a Tweet’s sentiment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Sentiment Analysis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The Afinn library was used which uses the AFINN lexicon of English terms manually rated for valence with an integer between -5 (negative) and +5  (positive).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Visualizations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Republican Vs. Democrat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Individual breakdown of party members</a:t>
            </a:r>
            <a:endParaRPr sz="1480"/>
          </a:p>
        </p:txBody>
      </p:sp>
      <p:sp>
        <p:nvSpPr>
          <p:cNvPr id="137" name="Google Shape;137;p4"/>
          <p:cNvSpPr txBox="1"/>
          <p:nvPr/>
        </p:nvSpPr>
        <p:spPr>
          <a:xfrm>
            <a:off x="685800" y="6096000"/>
            <a:ext cx="3195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[2] https://github.com/tweepy/tweepy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[3] https://github.com/fnielsen/afinn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46" name="Google Shape;146;p5"/>
          <p:cNvSpPr txBox="1"/>
          <p:nvPr>
            <p:ph idx="1" type="body"/>
          </p:nvPr>
        </p:nvSpPr>
        <p:spPr>
          <a:xfrm>
            <a:off x="457200" y="1143000"/>
            <a:ext cx="50292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115</a:t>
            </a:r>
            <a:r>
              <a:rPr baseline="30000" lang="en-US" sz="2220"/>
              <a:t>th</a:t>
            </a:r>
            <a:r>
              <a:rPr lang="en-US" sz="2220"/>
              <a:t> United States Congress – Senate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Members include 100 senators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46 Democratic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rgbClr val="7F7F7F"/>
              </a:buClr>
              <a:buSzPts val="1480"/>
              <a:buChar char="o"/>
            </a:pPr>
            <a:r>
              <a:rPr lang="en-US" sz="1480"/>
              <a:t>The two independents were considered Democratic based on previous party affiliations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54 Republican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100 Tweets from each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Twitter handles of all members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0"/>
              <a:buChar char="•"/>
            </a:pPr>
            <a:r>
              <a:rPr lang="en-US" sz="2220"/>
              <a:t>Csv file provided by socialseer.com, a simple call to one of our methods collected all data </a:t>
            </a:r>
            <a:endParaRPr sz="2220"/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143000"/>
            <a:ext cx="3368332" cy="214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409184" y="5943600"/>
            <a:ext cx="65250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[4] https://en.wikipedia.org/wiki/115th_United_States_Congress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[5] https://www.socialseer.com/resources/us-senator-twitter-accounts/</a:t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aphicFrame>
        <p:nvGraphicFramePr>
          <p:cNvPr id="149" name="Google Shape;149;p5"/>
          <p:cNvGraphicFramePr/>
          <p:nvPr/>
        </p:nvGraphicFramePr>
        <p:xfrm>
          <a:off x="5846398" y="3298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{915CB634-1F64-44A3-A1E4-034386DB95C6}</a:tableStyleId>
              </a:tblPr>
              <a:tblGrid>
                <a:gridCol w="1485900"/>
                <a:gridCol w="1485900"/>
              </a:tblGrid>
              <a:tr h="469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Twitter Handle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Party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469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Amyklobuchar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469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BillCassidy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469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…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469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SteveDaines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</a:t>
                      </a:r>
                      <a:endParaRPr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1abd8c2b1_0_30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 </a:t>
            </a:r>
            <a:r>
              <a:rPr lang="en-US" sz="4800"/>
              <a:t>Sentiment Score Bar Graph </a:t>
            </a:r>
            <a:endParaRPr sz="4800"/>
          </a:p>
        </p:txBody>
      </p:sp>
      <p:sp>
        <p:nvSpPr>
          <p:cNvPr id="158" name="Google Shape;158;g51abd8c2b1_0_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59" name="Google Shape;159;g51abd8c2b1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0200"/>
            <a:ext cx="8356125" cy="493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1abd8c2b1_0_1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 </a:t>
            </a:r>
            <a:r>
              <a:rPr lang="en-US" sz="4800"/>
              <a:t>Sentiment Score Bar Graph </a:t>
            </a:r>
            <a:endParaRPr/>
          </a:p>
        </p:txBody>
      </p:sp>
      <p:sp>
        <p:nvSpPr>
          <p:cNvPr id="168" name="Google Shape;168;g51abd8c2b1_0_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9" name="Google Shape;169;g51abd8c2b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75" y="1499550"/>
            <a:ext cx="8169226" cy="503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1abd8c2b1_0_10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 </a:t>
            </a:r>
            <a:r>
              <a:rPr lang="en-US" sz="4800"/>
              <a:t>Sentiment Score Bar Graph </a:t>
            </a:r>
            <a:endParaRPr/>
          </a:p>
        </p:txBody>
      </p:sp>
      <p:sp>
        <p:nvSpPr>
          <p:cNvPr id="178" name="Google Shape;178;g51abd8c2b1_0_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79" name="Google Shape;179;g51abd8c2b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50" y="1470825"/>
            <a:ext cx="8229601" cy="512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 </a:t>
            </a:r>
            <a:r>
              <a:rPr lang="en-US" sz="4800"/>
              <a:t>Sentiment Score </a:t>
            </a:r>
            <a:r>
              <a:rPr lang="en-US"/>
              <a:t>S</a:t>
            </a:r>
            <a:r>
              <a:rPr lang="en-US"/>
              <a:t>tatistics</a:t>
            </a:r>
            <a:r>
              <a:rPr lang="en-US" sz="4800"/>
              <a:t> </a:t>
            </a:r>
            <a:endParaRPr sz="4800"/>
          </a:p>
        </p:txBody>
      </p:sp>
      <p:sp>
        <p:nvSpPr>
          <p:cNvPr id="188" name="Google Shape;188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89" name="Google Shape;18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25" y="1734563"/>
            <a:ext cx="8703750" cy="42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Box Plots</a:t>
            </a:r>
            <a:endParaRPr/>
          </a:p>
        </p:txBody>
      </p:sp>
      <p:sp>
        <p:nvSpPr>
          <p:cNvPr id="198" name="Google Shape;19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99" name="Google Shape;1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450" y="1600200"/>
            <a:ext cx="7479099" cy="49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 rot="-5400000">
            <a:off x="550450" y="3579400"/>
            <a:ext cx="9654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Score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Word Cloud (Democrats)</a:t>
            </a:r>
            <a:endParaRPr/>
          </a:p>
        </p:txBody>
      </p:sp>
      <p:sp>
        <p:nvSpPr>
          <p:cNvPr id="209" name="Google Shape;20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18714" l="9005" r="6989" t="18714"/>
          <a:stretch/>
        </p:blipFill>
        <p:spPr>
          <a:xfrm>
            <a:off x="457200" y="1600200"/>
            <a:ext cx="8102317" cy="45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51abd8c2b1_0_21"/>
          <p:cNvSpPr txBox="1"/>
          <p:nvPr>
            <p:ph type="title"/>
          </p:nvPr>
        </p:nvSpPr>
        <p:spPr>
          <a:xfrm>
            <a:off x="151925" y="0"/>
            <a:ext cx="8535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Word Cloud (Republicans)</a:t>
            </a:r>
            <a:endParaRPr/>
          </a:p>
        </p:txBody>
      </p:sp>
      <p:sp>
        <p:nvSpPr>
          <p:cNvPr id="219" name="Google Shape;219;g51abd8c2b1_0_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20" name="Google Shape;220;g51abd8c2b1_0_21"/>
          <p:cNvPicPr preferRelativeResize="0"/>
          <p:nvPr/>
        </p:nvPicPr>
        <p:blipFill rotWithShape="1">
          <a:blip r:embed="rId3">
            <a:alphaModFix/>
          </a:blip>
          <a:srcRect b="21698" l="9999" r="8233" t="20437"/>
          <a:stretch/>
        </p:blipFill>
        <p:spPr>
          <a:xfrm>
            <a:off x="308213" y="1600200"/>
            <a:ext cx="8527581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5ad531436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450" y="1203625"/>
            <a:ext cx="6422275" cy="51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5ad5314365_0_0"/>
          <p:cNvSpPr txBox="1"/>
          <p:nvPr/>
        </p:nvSpPr>
        <p:spPr>
          <a:xfrm>
            <a:off x="1180850" y="303100"/>
            <a:ext cx="7350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Top 50 used emojis across two parties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5ad531436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00" y="947450"/>
            <a:ext cx="8600525" cy="516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5ad5314365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875" y="1099000"/>
            <a:ext cx="6565901" cy="17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43" name="Google Shape;24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Char char="●"/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Republican party gives much more positive average response in tweets, nearly twice the Democratic party.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66666"/>
              </a:buClr>
              <a:buSzPts val="2000"/>
              <a:buChar char="●"/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While the Republican party’s tweet scores has a slightly smaller standard deviation, both parties have a stable distribution.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Most Tweets carry similar sentiments.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While Republicans tend to be more positive, it is not possible to determine political affiliation from a single account with certainty based on sentiment alone.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666666"/>
              </a:buClr>
              <a:buSzPts val="2000"/>
              <a:buChar char="●"/>
            </a:pPr>
            <a:r>
              <a:rPr lang="en-US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Potentially though, if given a large enough dataset (several users of the same party) we can with certainty determine political affiliation. </a:t>
            </a:r>
            <a:endParaRPr sz="20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alatino Linotype"/>
              <a:buNone/>
            </a:pPr>
            <a:r>
              <a:rPr lang="en-US"/>
              <a:t>Special Thanks</a:t>
            </a:r>
            <a:endParaRPr/>
          </a:p>
        </p:txBody>
      </p:sp>
      <p:sp>
        <p:nvSpPr>
          <p:cNvPr id="252" name="Google Shape;252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Professor Unpingco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TA Ambareesh Jayakumari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TA Erik Seetao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UCSD ECE Department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xecutive">
  <a:themeElements>
    <a:clrScheme name="Executive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2019-05-28T20:57:52Z</dcterms:created>
  <dc:creator>Zamora, Edward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d2d5cce9-8345-4174-b26d-085ed3da9042</vt:lpwstr>
  </property>
  <property fmtid="{D5CDD505-2E9C-101B-9397-08002B2CF9AE}" pid="3" name="bjSaver">
    <vt:lpwstr>c144cG0XzZNffaPdWfeIWkOOwXc/19Vd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policy="c8d5760e-638a-47e8-9e2e-1226c2cb268d" origin="userSelected" xmlns="http://www.boldonj</vt:lpwstr>
  </property>
  <property fmtid="{D5CDD505-2E9C-101B-9397-08002B2CF9AE}" pid="5" name="bjDocumentLabelXML-0">
    <vt:lpwstr>ames.com/2008/01/sie/internal/label"&gt;&lt;element uid="42834bfb-1ec1-4beb-bd64-eb83fb3cb3f3" value="" /&gt;&lt;/sisl&gt;</vt:lpwstr>
  </property>
  <property fmtid="{D5CDD505-2E9C-101B-9397-08002B2CF9AE}" pid="6" name="bjDocumentSecurityLabel">
    <vt:lpwstr>Unrestricted</vt:lpwstr>
  </property>
  <property fmtid="{D5CDD505-2E9C-101B-9397-08002B2CF9AE}" pid="7" name="bjLabelHistoryID">
    <vt:lpwstr>{2B648C2B-3CD6-4EF0-A7BE-A30A8AE4D6D8}</vt:lpwstr>
  </property>
</Properties>
</file>